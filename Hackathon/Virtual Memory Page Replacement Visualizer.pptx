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80" r:id="rId4"/>
    <p:sldId id="281" r:id="rId5"/>
    <p:sldId id="283" r:id="rId6"/>
    <p:sldId id="300" r:id="rId7"/>
    <p:sldId id="286" r:id="rId8"/>
    <p:sldId id="285" r:id="rId9"/>
    <p:sldId id="301" r:id="rId10"/>
    <p:sldId id="302" r:id="rId11"/>
    <p:sldId id="303" r:id="rId12"/>
    <p:sldId id="304" r:id="rId13"/>
    <p:sldId id="305" r:id="rId14"/>
    <p:sldId id="306" r:id="rId15"/>
    <p:sldId id="307" r:id="rId16"/>
    <p:sldId id="308" r:id="rId17"/>
    <p:sldId id="309" r:id="rId18"/>
    <p:sldId id="310" r:id="rId19"/>
    <p:sldId id="311" r:id="rId20"/>
    <p:sldId id="31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010" autoAdjust="0"/>
  </p:normalViewPr>
  <p:slideViewPr>
    <p:cSldViewPr snapToGrid="0">
      <p:cViewPr varScale="1">
        <p:scale>
          <a:sx n="78" d="100"/>
          <a:sy n="78" d="100"/>
        </p:scale>
        <p:origin x="82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16-10-2026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16-10-2026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16-10-2026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16-10-2026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147" y="1323244"/>
            <a:ext cx="7955279" cy="852085"/>
          </a:xfrm>
        </p:spPr>
        <p:txBody>
          <a:bodyPr>
            <a:noAutofit/>
          </a:bodyPr>
          <a:lstStyle/>
          <a:p>
            <a:pPr algn="ctr"/>
            <a:r>
              <a:rPr lang="en-US" sz="2800" dirty="0" smtClean="0"/>
              <a:t>VIRTUAL MEMORY PAGE REPLACEMENT Visualizer</a:t>
            </a:r>
            <a:endParaRPr lang="en-IN" sz="2800" dirty="0"/>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smtClean="0"/>
              <a:t>COURSE : </a:t>
            </a:r>
            <a:r>
              <a:rPr lang="en-US" dirty="0" smtClean="0"/>
              <a:t>OPERATING SYSTEMS AND SYSTEMS PROGRAMMING</a:t>
            </a:r>
          </a:p>
          <a:p>
            <a:pPr algn="ctr"/>
            <a:r>
              <a:rPr lang="en-US" dirty="0" smtClean="0"/>
              <a:t>COURSE </a:t>
            </a:r>
            <a:r>
              <a:rPr lang="en-US" dirty="0" smtClean="0"/>
              <a:t>CODE: </a:t>
            </a:r>
            <a:r>
              <a:rPr lang="en-US" dirty="0" smtClean="0"/>
              <a:t>25SC2104E</a:t>
            </a:r>
            <a:endParaRPr lang="en-US" dirty="0" smtClean="0"/>
          </a:p>
          <a:p>
            <a:pPr algn="ctr"/>
            <a:r>
              <a:rPr lang="en-US" dirty="0" smtClean="0"/>
              <a:t>SECTION: </a:t>
            </a:r>
            <a:r>
              <a:rPr lang="en-US" dirty="0" smtClean="0"/>
              <a:t>4</a:t>
            </a:r>
            <a:endParaRPr lang="en-US" dirty="0" smtClean="0"/>
          </a:p>
          <a:p>
            <a:pPr algn="ctr"/>
            <a:r>
              <a:rPr lang="en-US" dirty="0" smtClean="0"/>
              <a:t>Branch: CSE</a:t>
            </a:r>
          </a:p>
          <a:p>
            <a:pPr algn="ctr"/>
            <a:r>
              <a:rPr lang="en-US" dirty="0" smtClean="0"/>
              <a:t>GUIDED BY: </a:t>
            </a:r>
            <a:r>
              <a:rPr lang="en-US" dirty="0" smtClean="0"/>
              <a:t>E. SOUMYA (ASSISTANT PROFESSOR) </a:t>
            </a:r>
          </a:p>
          <a:p>
            <a:pPr algn="ctr"/>
            <a:r>
              <a:rPr lang="en-US" dirty="0" smtClean="0"/>
              <a:t>2520030157 </a:t>
            </a:r>
            <a:r>
              <a:rPr lang="en-US" dirty="0" smtClean="0"/>
              <a:t>- SAI SURENDRANATH PENDYALA</a:t>
            </a:r>
          </a:p>
          <a:p>
            <a:pPr algn="ctr"/>
            <a:r>
              <a:rPr lang="en-US" dirty="0" smtClean="0"/>
              <a:t>252003030195 - </a:t>
            </a:r>
            <a:r>
              <a:rPr lang="en-US" dirty="0" smtClean="0"/>
              <a:t>ADA ROHAN</a:t>
            </a:r>
            <a:endParaRPr lang="en-US" dirty="0" smtClean="0"/>
          </a:p>
          <a:p>
            <a:pPr algn="ctr"/>
            <a:r>
              <a:rPr lang="en-US" dirty="0" smtClean="0"/>
              <a:t>2520030291 - </a:t>
            </a:r>
            <a:r>
              <a:rPr lang="en-US" dirty="0" err="1" smtClean="0"/>
              <a:t>Medikonda</a:t>
            </a:r>
            <a:r>
              <a:rPr lang="en-US" dirty="0" smtClean="0"/>
              <a:t> ram </a:t>
            </a:r>
            <a:r>
              <a:rPr lang="en-US" dirty="0" err="1" smtClean="0"/>
              <a:t>ratan</a:t>
            </a:r>
            <a:endParaRPr lang="en-US" dirty="0" smtClean="0"/>
          </a:p>
          <a:p>
            <a:pPr algn="ctr"/>
            <a:r>
              <a:rPr lang="en-US" dirty="0" smtClean="0"/>
              <a:t>2026-2027</a:t>
            </a:r>
            <a:endParaRPr lang="en-US" dirty="0" smtClean="0"/>
          </a:p>
        </p:txBody>
      </p:sp>
      <p:pic>
        <p:nvPicPr>
          <p:cNvPr id="4" name="Picture 3"/>
          <p:cNvPicPr>
            <a:picLocks noChangeAspect="1"/>
          </p:cNvPicPr>
          <p:nvPr/>
        </p:nvPicPr>
        <p:blipFill>
          <a:blip r:embed="rId2"/>
          <a:stretch>
            <a:fillRect/>
          </a:stretch>
        </p:blipFill>
        <p:spPr>
          <a:xfrm>
            <a:off x="0" y="-49161"/>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127819"/>
            <a:ext cx="10131425" cy="511277"/>
          </a:xfrm>
        </p:spPr>
        <p:txBody>
          <a:bodyPr>
            <a:normAutofit fontScale="90000"/>
          </a:bodyPr>
          <a:lstStyle/>
          <a:p>
            <a:pPr algn="ctr"/>
            <a:r>
              <a:rPr lang="en-US" dirty="0" smtClean="0"/>
              <a:t>CONTENTS</a:t>
            </a:r>
            <a:endParaRPr lang="en-IN" dirty="0"/>
          </a:p>
        </p:txBody>
      </p:sp>
      <p:sp>
        <p:nvSpPr>
          <p:cNvPr id="6" name="Content Placeholder 5"/>
          <p:cNvSpPr>
            <a:spLocks noGrp="1"/>
          </p:cNvSpPr>
          <p:nvPr>
            <p:ph idx="1"/>
          </p:nvPr>
        </p:nvSpPr>
        <p:spPr>
          <a:xfrm>
            <a:off x="1376516" y="747252"/>
            <a:ext cx="9440710" cy="5860025"/>
          </a:xfrm>
        </p:spPr>
        <p:txBody>
          <a:bodyPr>
            <a:normAutofit fontScale="92500" lnSpcReduction="20000"/>
          </a:bodyPr>
          <a:lstStyle/>
          <a:p>
            <a:r>
              <a:rPr lang="en-IN" dirty="0"/>
              <a:t>Abstract</a:t>
            </a:r>
          </a:p>
          <a:p>
            <a:r>
              <a:rPr lang="en-IN" dirty="0"/>
              <a:t>Introduction</a:t>
            </a:r>
          </a:p>
          <a:p>
            <a:r>
              <a:rPr lang="en-IN" dirty="0" smtClean="0"/>
              <a:t>Objectives</a:t>
            </a:r>
          </a:p>
          <a:p>
            <a:r>
              <a:rPr lang="en-IN" dirty="0" smtClean="0"/>
              <a:t>Problem Statement</a:t>
            </a:r>
          </a:p>
          <a:p>
            <a:r>
              <a:rPr lang="en-IN" dirty="0" smtClean="0"/>
              <a:t>Existing </a:t>
            </a:r>
            <a:r>
              <a:rPr lang="en-IN" dirty="0"/>
              <a:t>Solution</a:t>
            </a:r>
          </a:p>
          <a:p>
            <a:r>
              <a:rPr lang="en-IN" dirty="0"/>
              <a:t>Proposed Solution</a:t>
            </a:r>
          </a:p>
          <a:p>
            <a:r>
              <a:rPr lang="en-IN" dirty="0"/>
              <a:t>Technologies Used</a:t>
            </a:r>
          </a:p>
          <a:p>
            <a:r>
              <a:rPr lang="en-IN" dirty="0"/>
              <a:t>System Design</a:t>
            </a:r>
          </a:p>
          <a:p>
            <a:r>
              <a:rPr lang="en-IN" dirty="0"/>
              <a:t>Flowchart</a:t>
            </a:r>
          </a:p>
          <a:p>
            <a:r>
              <a:rPr lang="en-IN" dirty="0"/>
              <a:t>Implementation Approach</a:t>
            </a:r>
          </a:p>
          <a:p>
            <a:r>
              <a:rPr lang="en-IN" dirty="0"/>
              <a:t>Web Application Screenshot</a:t>
            </a:r>
          </a:p>
          <a:p>
            <a:r>
              <a:rPr lang="en-IN" dirty="0"/>
              <a:t>Input Screenshots</a:t>
            </a:r>
          </a:p>
          <a:p>
            <a:r>
              <a:rPr lang="en-IN" dirty="0"/>
              <a:t>Output </a:t>
            </a:r>
            <a:r>
              <a:rPr lang="en-IN" dirty="0" smtClean="0"/>
              <a:t>Screenshots</a:t>
            </a:r>
          </a:p>
          <a:p>
            <a:r>
              <a:rPr lang="en-US" dirty="0" smtClean="0"/>
              <a:t>Step By Step Simulation</a:t>
            </a:r>
            <a:endParaRPr lang="en-IN" dirty="0"/>
          </a:p>
          <a:p>
            <a:r>
              <a:rPr lang="en-IN" dirty="0"/>
              <a:t>Impact</a:t>
            </a:r>
          </a:p>
          <a:p>
            <a:r>
              <a:rPr lang="en-IN" dirty="0"/>
              <a:t>Conclusion</a:t>
            </a:r>
          </a:p>
          <a:p>
            <a:r>
              <a:rPr lang="en-IN" dirty="0"/>
              <a:t>Future </a:t>
            </a:r>
            <a:r>
              <a:rPr lang="en-IN" dirty="0" smtClean="0"/>
              <a:t>Scope</a:t>
            </a:r>
            <a:endParaRPr lang="en-IN" dirty="0"/>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abstract</a:t>
            </a:r>
            <a:endParaRPr lang="en-IN" dirty="0"/>
          </a:p>
        </p:txBody>
      </p:sp>
      <p:sp>
        <p:nvSpPr>
          <p:cNvPr id="3" name="Content Placeholder 2"/>
          <p:cNvSpPr>
            <a:spLocks noGrp="1"/>
          </p:cNvSpPr>
          <p:nvPr>
            <p:ph idx="1"/>
          </p:nvPr>
        </p:nvSpPr>
        <p:spPr>
          <a:xfrm>
            <a:off x="1000433" y="2230557"/>
            <a:ext cx="10131425" cy="3649133"/>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Virtual Memory Page Replacement Visualizer is a web-based application </a:t>
            </a:r>
            <a:r>
              <a:rPr lang="en-US" dirty="0" smtClean="0">
                <a:latin typeface="Times New Roman" panose="02020603050405020304" pitchFamily="18" charset="0"/>
                <a:cs typeface="Times New Roman" panose="02020603050405020304" pitchFamily="18" charset="0"/>
              </a:rPr>
              <a:t>designed to demonstrate </a:t>
            </a:r>
            <a:r>
              <a:rPr lang="en-US" dirty="0">
                <a:latin typeface="Times New Roman" panose="02020603050405020304" pitchFamily="18" charset="0"/>
                <a:cs typeface="Times New Roman" panose="02020603050405020304" pitchFamily="18" charset="0"/>
              </a:rPr>
              <a:t>and compare three page replacement algorithms used in operating systems: First In, First Out (FIFO), Least Recently Used (LRU), and Optimal Page Replacement. </a:t>
            </a:r>
            <a:r>
              <a:rPr lang="en-US" dirty="0" smtClean="0">
                <a:latin typeface="Times New Roman" panose="02020603050405020304" pitchFamily="18" charset="0"/>
                <a:cs typeface="Times New Roman" panose="02020603050405020304" pitchFamily="18" charset="0"/>
              </a:rPr>
              <a:t>When physical </a:t>
            </a:r>
            <a:r>
              <a:rPr lang="en-US" dirty="0">
                <a:latin typeface="Times New Roman" panose="02020603050405020304" pitchFamily="18" charset="0"/>
                <a:cs typeface="Times New Roman" panose="02020603050405020304" pitchFamily="18" charset="0"/>
              </a:rPr>
              <a:t>memory becomes full and a new page needs to be loaded, the operating </a:t>
            </a:r>
            <a:r>
              <a:rPr lang="en-US" dirty="0" smtClean="0">
                <a:latin typeface="Times New Roman" panose="02020603050405020304" pitchFamily="18" charset="0"/>
                <a:cs typeface="Times New Roman" panose="02020603050405020304" pitchFamily="18" charset="0"/>
              </a:rPr>
              <a:t>system must </a:t>
            </a:r>
            <a:r>
              <a:rPr lang="en-US" dirty="0">
                <a:latin typeface="Times New Roman" panose="02020603050405020304" pitchFamily="18" charset="0"/>
                <a:cs typeface="Times New Roman" panose="02020603050405020304" pitchFamily="18" charset="0"/>
              </a:rPr>
              <a:t>select a page to replace. The proposed system simulates this process using a </a:t>
            </a:r>
            <a:r>
              <a:rPr lang="en-US" dirty="0" smtClean="0">
                <a:latin typeface="Times New Roman" panose="02020603050405020304" pitchFamily="18" charset="0"/>
                <a:cs typeface="Times New Roman" panose="02020603050405020304" pitchFamily="18" charset="0"/>
              </a:rPr>
              <a:t>user- defined page </a:t>
            </a:r>
            <a:r>
              <a:rPr lang="en-US" dirty="0">
                <a:latin typeface="Times New Roman" panose="02020603050405020304" pitchFamily="18" charset="0"/>
                <a:cs typeface="Times New Roman" panose="02020603050405020304" pitchFamily="18" charset="0"/>
              </a:rPr>
              <a:t>reference string and a specified number of memory frames. It visually displays </a:t>
            </a:r>
            <a:r>
              <a:rPr lang="en-US" dirty="0" smtClean="0">
                <a:latin typeface="Times New Roman" panose="02020603050405020304" pitchFamily="18" charset="0"/>
                <a:cs typeface="Times New Roman" panose="02020603050405020304" pitchFamily="18" charset="0"/>
              </a:rPr>
              <a:t>the contents </a:t>
            </a:r>
            <a:r>
              <a:rPr lang="en-US" dirty="0">
                <a:latin typeface="Times New Roman" panose="02020603050405020304" pitchFamily="18" charset="0"/>
                <a:cs typeface="Times New Roman" panose="02020603050405020304" pitchFamily="18" charset="0"/>
              </a:rPr>
              <a:t>of memory frames after each page request and identifies page hits and page faults. The system calculates the total number of page faults generated by each </a:t>
            </a:r>
            <a:r>
              <a:rPr lang="en-US" dirty="0" smtClean="0">
                <a:latin typeface="Times New Roman" panose="02020603050405020304" pitchFamily="18" charset="0"/>
                <a:cs typeface="Times New Roman" panose="02020603050405020304" pitchFamily="18" charset="0"/>
              </a:rPr>
              <a:t>algorithm and presents </a:t>
            </a:r>
            <a:r>
              <a:rPr lang="en-US" dirty="0">
                <a:latin typeface="Times New Roman" panose="02020603050405020304" pitchFamily="18" charset="0"/>
                <a:cs typeface="Times New Roman" panose="02020603050405020304" pitchFamily="18" charset="0"/>
              </a:rPr>
              <a:t>a comparative analysis using tables and graphical representations. This helps </a:t>
            </a:r>
            <a:r>
              <a:rPr lang="en-US" dirty="0" smtClean="0">
                <a:latin typeface="Times New Roman" panose="02020603050405020304" pitchFamily="18" charset="0"/>
                <a:cs typeface="Times New Roman" panose="02020603050405020304" pitchFamily="18" charset="0"/>
              </a:rPr>
              <a:t>users understand </a:t>
            </a:r>
            <a:r>
              <a:rPr lang="en-US" dirty="0">
                <a:latin typeface="Times New Roman" panose="02020603050405020304" pitchFamily="18" charset="0"/>
                <a:cs typeface="Times New Roman" panose="02020603050405020304" pitchFamily="18" charset="0"/>
              </a:rPr>
              <a:t>how different page replacement strategies operate and how their </a:t>
            </a:r>
            <a:r>
              <a:rPr lang="en-US" dirty="0" smtClean="0">
                <a:latin typeface="Times New Roman" panose="02020603050405020304" pitchFamily="18" charset="0"/>
                <a:cs typeface="Times New Roman" panose="02020603050405020304" pitchFamily="18" charset="0"/>
              </a:rPr>
              <a:t>performance varies </a:t>
            </a:r>
            <a:r>
              <a:rPr lang="en-US" dirty="0">
                <a:latin typeface="Times New Roman" panose="02020603050405020304" pitchFamily="18" charset="0"/>
                <a:cs typeface="Times New Roman" panose="02020603050405020304" pitchFamily="18" charset="0"/>
              </a:rPr>
              <a:t>with different input sequences. The application can be developed using HTML, CSS, and JavaScript, providing an interactive and user-friendly interface for learning </a:t>
            </a:r>
            <a:r>
              <a:rPr lang="en-US" dirty="0" smtClean="0">
                <a:latin typeface="Times New Roman" panose="02020603050405020304" pitchFamily="18" charset="0"/>
                <a:cs typeface="Times New Roman" panose="02020603050405020304" pitchFamily="18" charset="0"/>
              </a:rPr>
              <a:t>operating system </a:t>
            </a:r>
            <a:r>
              <a:rPr lang="en-US" dirty="0">
                <a:latin typeface="Times New Roman" panose="02020603050405020304" pitchFamily="18" charset="0"/>
                <a:cs typeface="Times New Roman" panose="02020603050405020304" pitchFamily="18" charset="0"/>
              </a:rPr>
              <a:t>memory management concepts. The proposed visualizer serves as an educational tool for students to understand virtual memory, page replacement techniques, and the </a:t>
            </a:r>
            <a:r>
              <a:rPr lang="en-US" dirty="0" smtClean="0">
                <a:latin typeface="Times New Roman" panose="02020603050405020304" pitchFamily="18" charset="0"/>
                <a:cs typeface="Times New Roman" panose="02020603050405020304" pitchFamily="18" charset="0"/>
              </a:rPr>
              <a:t>importance of </a:t>
            </a:r>
            <a:r>
              <a:rPr lang="en-US" dirty="0">
                <a:latin typeface="Times New Roman" panose="02020603050405020304" pitchFamily="18" charset="0"/>
                <a:cs typeface="Times New Roman" panose="02020603050405020304" pitchFamily="18" charset="0"/>
              </a:rPr>
              <a:t>reducing page faults to improve memory management efficiency.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757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smtClean="0"/>
              <a:t>Introduction</a:t>
            </a:r>
            <a:endParaRPr lang="en-IN" dirty="0"/>
          </a:p>
        </p:txBody>
      </p:sp>
      <p:sp>
        <p:nvSpPr>
          <p:cNvPr id="6" name="Content Placeholder 5"/>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Virtual memory is an important concept in operating systems that allows programs to execute efficiently by using secondary storage as an extension of physical memory. When a required page is not available in RAM, a page fault occurs, and the operating system must load the required page into memory. If all memory frames are occupied, a page replacement algorithm is used to select a page for removal. FIFO (First In, First Out), LRU (Least Recently Used), and Optimal Page Replacement are three commonly studied algorithms for this purpose. Understanding their working process and comparing their performance can be difficult through theoretical explanations alone. The Virtual Memory Page Replacement Visualizer provides an interactive graphical representation of these algorithms, showing memory frame changes, page hits, page faults, and total page fault counts. It helps students understand memory management concepts and analyze the performance of different page replacement strategies using the same input sequence.</a:t>
            </a:r>
          </a:p>
        </p:txBody>
      </p:sp>
    </p:spTree>
    <p:extLst>
      <p:ext uri="{BB962C8B-B14F-4D97-AF65-F5344CB8AC3E}">
        <p14:creationId xmlns:p14="http://schemas.microsoft.com/office/powerpoint/2010/main" val="259887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Problem statement</a:t>
            </a:r>
            <a:endParaRPr lang="en-IN" dirty="0"/>
          </a:p>
        </p:txBody>
      </p:sp>
      <p:sp>
        <p:nvSpPr>
          <p:cNvPr id="3" name="Content Placeholder 2"/>
          <p:cNvSpPr>
            <a:spLocks noGrp="1"/>
          </p:cNvSpPr>
          <p:nvPr>
            <p:ph idx="1"/>
          </p:nvPr>
        </p:nvSpPr>
        <p:spPr/>
        <p:txBody>
          <a:bodyPr/>
          <a:lstStyle/>
          <a:p>
            <a:pPr algn="just"/>
            <a:r>
              <a:rPr lang="en-US" dirty="0"/>
              <a:t>Understanding page replacement algorithms in operating systems can be challenging for students because the process of managing memory frames and replacing pages is difficult to visualize through theoretical explanations alone. When physical memory becomes full, the operating system must select a page to remove before loading a new page. Different algorithms, such as FIFO, LRU, and Optimal Page Replacement, make these decisions using different strategies, resulting in different numbers of page faults. Therefore, there is a need for an interactive visualizer that demonstrates the step-by-step working of these algorithms, displays page hits and page faults, and compares their performance using the same page reference string and number of memory frames. The proposed system aims to simplify the learning process and help users understand the effectiveness of different page replacement techniques</a:t>
            </a:r>
            <a:r>
              <a:rPr lang="en-US" dirty="0" smtClean="0"/>
              <a:t>.</a:t>
            </a:r>
            <a:endParaRPr lang="en-US" dirty="0"/>
          </a:p>
        </p:txBody>
      </p:sp>
    </p:spTree>
    <p:extLst>
      <p:ext uri="{BB962C8B-B14F-4D97-AF65-F5344CB8AC3E}">
        <p14:creationId xmlns:p14="http://schemas.microsoft.com/office/powerpoint/2010/main" val="4762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OBJECTIVES</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main objective of the Virtual Memory Page Replacement Visualizer is to develop a user-friendly web application that demonstrates the working of FIFO, LRU, and Optimal Page Replacement algorithms. The system allows users to enter a page reference string and specify the number of memory frames. It visually displays the memory frame contents after each page request and clearly identifies page hits and page faults. The application calculates the total number of page faults generated by each algorithm and compares their performance using tables and graphical representations. It aims to improve students' understanding of virtual memory, page replacement techniques, and operating system memory management through an interactive and easy-to-understand learning experience.</a:t>
            </a:r>
          </a:p>
        </p:txBody>
      </p:sp>
    </p:spTree>
    <p:extLst>
      <p:ext uri="{BB962C8B-B14F-4D97-AF65-F5344CB8AC3E}">
        <p14:creationId xmlns:p14="http://schemas.microsoft.com/office/powerpoint/2010/main" val="1797808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EXISTING SOLUTION</a:t>
            </a:r>
            <a:endParaRPr lang="en-IN" dirty="0"/>
          </a:p>
        </p:txBody>
      </p:sp>
      <p:sp>
        <p:nvSpPr>
          <p:cNvPr id="3" name="Content Placeholder 2"/>
          <p:cNvSpPr>
            <a:spLocks noGrp="1"/>
          </p:cNvSpPr>
          <p:nvPr>
            <p:ph idx="1"/>
          </p:nvPr>
        </p:nvSpPr>
        <p:spPr/>
        <p:txBody>
          <a:bodyPr/>
          <a:lstStyle/>
          <a:p>
            <a:pPr algn="just"/>
            <a:r>
              <a:rPr lang="en-US" dirty="0"/>
              <a:t>Traditional methods of learning page replacement algorithms mainly rely on textbooks, classroom explanations, and static examples. These methods explain the working principles of FIFO, LRU, and Optimal Page Replacement but may not provide an interactive representation of memory frame changes for different page reference strings. Some existing simulators demonstrate individual algorithms or require users to calculate page faults manually. Comparing multiple algorithms can therefore be time-consuming and difficult for beginners. These limitations highlight the need for a user-friendly visual tool that demonstrates page replacement step by step and compares the performance of all three algorithms using the same input.</a:t>
            </a:r>
          </a:p>
        </p:txBody>
      </p:sp>
    </p:spTree>
    <p:extLst>
      <p:ext uri="{BB962C8B-B14F-4D97-AF65-F5344CB8AC3E}">
        <p14:creationId xmlns:p14="http://schemas.microsoft.com/office/powerpoint/2010/main" val="397787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smtClean="0"/>
              <a:t>PROPOSED SOLUTION </a:t>
            </a:r>
            <a:endParaRPr lang="en-IN" dirty="0"/>
          </a:p>
        </p:txBody>
      </p:sp>
      <p:sp>
        <p:nvSpPr>
          <p:cNvPr id="6" name="Content Placeholder 5"/>
          <p:cNvSpPr>
            <a:spLocks noGrp="1"/>
          </p:cNvSpPr>
          <p:nvPr>
            <p:ph idx="1"/>
          </p:nvPr>
        </p:nvSpPr>
        <p:spPr/>
        <p:txBody>
          <a:bodyPr/>
          <a:lstStyle/>
          <a:p>
            <a:pPr algn="just"/>
            <a:r>
              <a:rPr lang="en-US" dirty="0"/>
              <a:t>The proposed Virtual Memory Page Replacement Visualizer is an interactive web application designed to simplify the understanding of page replacement algorithms. The system allows users to enter a page reference string and specify the number of memory frames. It simulates FIFO, LRU, and Optimal Page Replacement algorithms and displays the changes in memory frames step by step. Page hits and page faults are highlighted visually to help users understand how each algorithm handles page requests. The application calculates the total page faults for each algorithm and presents a comparative analysis using tables and graphical representations. By providing a simple interface and real-time visual feedback during simulation, the proposed system helps students understand memory management concepts and evaluate the performance of different page replacement strategies</a:t>
            </a:r>
            <a:r>
              <a:rPr lang="en-US" dirty="0" smtClean="0"/>
              <a:t>.</a:t>
            </a:r>
            <a:endParaRPr lang="en-US" dirty="0"/>
          </a:p>
        </p:txBody>
      </p:sp>
    </p:spTree>
    <p:extLst>
      <p:ext uri="{BB962C8B-B14F-4D97-AF65-F5344CB8AC3E}">
        <p14:creationId xmlns:p14="http://schemas.microsoft.com/office/powerpoint/2010/main" val="3636099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Technologies used</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Virtual Memory Page Replacement Visualizer is developed using HTML, CSS, and JavaScript. HTML is used to structure the web application, including input fields, buttons, memory frames, and result sections. CSS is used to design an attractive, responsive, and user-friendly interface with visual indicators for page hits and page faults. JavaScript implements the FIFO, LRU, and Optimal Page Replacement algorithms, processes the user-provided page reference string, updates memory frame contents, and calculates the total number of page faults. Tables and graphical representations are used to compare the performance of the three algorithms. These technologies work together to provide an interactive and efficient platform for understanding virtual memory and page replacement techniques.</a:t>
            </a:r>
          </a:p>
        </p:txBody>
      </p:sp>
    </p:spTree>
    <p:extLst>
      <p:ext uri="{BB962C8B-B14F-4D97-AF65-F5344CB8AC3E}">
        <p14:creationId xmlns:p14="http://schemas.microsoft.com/office/powerpoint/2010/main" val="101233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SYSTEM DESIGN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system design </a:t>
            </a:r>
            <a:r>
              <a:rPr lang="en-US" dirty="0">
                <a:latin typeface="Times New Roman" panose="02020603050405020304" pitchFamily="18" charset="0"/>
                <a:cs typeface="Times New Roman" panose="02020603050405020304" pitchFamily="18" charset="0"/>
              </a:rPr>
              <a:t>of the Virtual Memory Page Replacement Visualizer consists of three main components: the user interface, the page replacement algorithm module, and the results visualization module. The user interface allows users to enter a page reference string and specify the number of memory frames. The algorithm module processes the input using FIFO, LRU, and Optimal Page Replacement techniques and determines which pages should be loaded into or removed from memory. During the simulation, the system records memory frame changes and identifies page hits and page faults. The results visualization module displays the step-by-step simulation, calculates the total page faults for each algorithm, and presents a comparative analysis using tables and charts. These components work together to provide an interactive and user-friendly platform for understanding and comparing page replacement algorithms.</a:t>
            </a:r>
          </a:p>
        </p:txBody>
      </p:sp>
    </p:spTree>
    <p:extLst>
      <p:ext uri="{BB962C8B-B14F-4D97-AF65-F5344CB8AC3E}">
        <p14:creationId xmlns:p14="http://schemas.microsoft.com/office/powerpoint/2010/main" val="2607015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0"/>
            <a:ext cx="10131425" cy="589935"/>
          </a:xfrm>
        </p:spPr>
        <p:txBody>
          <a:bodyPr>
            <a:normAutofit fontScale="90000"/>
          </a:bodyPr>
          <a:lstStyle/>
          <a:p>
            <a:pPr algn="ctr"/>
            <a:r>
              <a:rPr lang="en-US" dirty="0" smtClean="0"/>
              <a:t>FLOWCHART</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0" y="511277"/>
            <a:ext cx="12192000" cy="6449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339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Implementation approach</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implementation of the Virtual Memory Page Replacement Visualizer begins with designing a user-friendly web interface using HTML and CSS. Users can enter a page reference string and specify the number of memory frames required for the simulation. JavaScript is used to implement the FIFO, LRU, and Optimal Page Replacement algorithms. The system processes each page request, checks whether the page is already present in memory, and identifies page hits and page faults. When all memory frames are occupied, the appropriate algorithm selects a page for replacement. The application updates the memory frame contents after each request and calculates the total number of page faults for each algorithm. Finally, the results are displayed using step-by-step visualizations, comparison tables, and graphical representations. The system is tested with different input sequences and frame counts to verify the correctness of the algorithms and ensure reliable performance.</a:t>
            </a:r>
          </a:p>
        </p:txBody>
      </p:sp>
    </p:spTree>
    <p:extLst>
      <p:ext uri="{BB962C8B-B14F-4D97-AF65-F5344CB8AC3E}">
        <p14:creationId xmlns:p14="http://schemas.microsoft.com/office/powerpoint/2010/main" val="3711748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599" y="98323"/>
            <a:ext cx="10131425" cy="619432"/>
          </a:xfrm>
        </p:spPr>
        <p:txBody>
          <a:bodyPr>
            <a:normAutofit fontScale="90000"/>
          </a:bodyPr>
          <a:lstStyle/>
          <a:p>
            <a:pPr algn="ctr"/>
            <a:r>
              <a:rPr lang="en-IN" dirty="0"/>
              <a:t>Web Application </a:t>
            </a:r>
            <a:r>
              <a:rPr lang="en-IN" dirty="0" smtClean="0"/>
              <a:t>Screenshot</a:t>
            </a:r>
            <a:endParaRPr lang="en-IN" dirty="0"/>
          </a:p>
        </p:txBody>
      </p:sp>
      <p:pic>
        <p:nvPicPr>
          <p:cNvPr id="6" name="Content Placeholder 5"/>
          <p:cNvPicPr>
            <a:picLocks noGrp="1" noChangeAspect="1"/>
          </p:cNvPicPr>
          <p:nvPr>
            <p:ph idx="1"/>
          </p:nvPr>
        </p:nvPicPr>
        <p:blipFill>
          <a:blip r:embed="rId2"/>
          <a:stretch>
            <a:fillRect/>
          </a:stretch>
        </p:blipFill>
        <p:spPr>
          <a:xfrm>
            <a:off x="1" y="796414"/>
            <a:ext cx="7292344" cy="6061586"/>
          </a:xfrm>
          <a:prstGeom prst="rect">
            <a:avLst/>
          </a:prstGeom>
        </p:spPr>
      </p:pic>
      <p:pic>
        <p:nvPicPr>
          <p:cNvPr id="7" name="Picture 6"/>
          <p:cNvPicPr>
            <a:picLocks noChangeAspect="1"/>
          </p:cNvPicPr>
          <p:nvPr/>
        </p:nvPicPr>
        <p:blipFill>
          <a:blip r:embed="rId3"/>
          <a:stretch>
            <a:fillRect/>
          </a:stretch>
        </p:blipFill>
        <p:spPr>
          <a:xfrm>
            <a:off x="7292344" y="796414"/>
            <a:ext cx="4899656" cy="6061586"/>
          </a:xfrm>
          <a:prstGeom prst="rect">
            <a:avLst/>
          </a:prstGeom>
        </p:spPr>
      </p:pic>
    </p:spTree>
    <p:extLst>
      <p:ext uri="{BB962C8B-B14F-4D97-AF65-F5344CB8AC3E}">
        <p14:creationId xmlns:p14="http://schemas.microsoft.com/office/powerpoint/2010/main" val="430495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821" y="68826"/>
            <a:ext cx="10131425" cy="884903"/>
          </a:xfrm>
        </p:spPr>
        <p:txBody>
          <a:bodyPr/>
          <a:lstStyle/>
          <a:p>
            <a:pPr algn="ctr"/>
            <a:r>
              <a:rPr lang="en-US" dirty="0" smtClean="0"/>
              <a:t>INPUT SCREENSHOT</a:t>
            </a:r>
            <a:endParaRPr lang="en-IN" dirty="0"/>
          </a:p>
        </p:txBody>
      </p:sp>
      <p:pic>
        <p:nvPicPr>
          <p:cNvPr id="4" name="Content Placeholder 3"/>
          <p:cNvPicPr>
            <a:picLocks noGrp="1" noChangeAspect="1"/>
          </p:cNvPicPr>
          <p:nvPr>
            <p:ph idx="1"/>
          </p:nvPr>
        </p:nvPicPr>
        <p:blipFill>
          <a:blip r:embed="rId2"/>
          <a:stretch>
            <a:fillRect/>
          </a:stretch>
        </p:blipFill>
        <p:spPr>
          <a:xfrm>
            <a:off x="1" y="786580"/>
            <a:ext cx="12192000" cy="6071419"/>
          </a:xfrm>
          <a:prstGeom prst="rect">
            <a:avLst/>
          </a:prstGeom>
        </p:spPr>
      </p:pic>
    </p:spTree>
    <p:extLst>
      <p:ext uri="{BB962C8B-B14F-4D97-AF65-F5344CB8AC3E}">
        <p14:creationId xmlns:p14="http://schemas.microsoft.com/office/powerpoint/2010/main" val="3190113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124" y="78659"/>
            <a:ext cx="10131425" cy="619432"/>
          </a:xfrm>
        </p:spPr>
        <p:txBody>
          <a:bodyPr>
            <a:normAutofit fontScale="90000"/>
          </a:bodyPr>
          <a:lstStyle/>
          <a:p>
            <a:pPr algn="ctr"/>
            <a:r>
              <a:rPr lang="en-US" dirty="0" smtClean="0"/>
              <a:t>OUTPUT SCREENSHOT</a:t>
            </a:r>
            <a:endParaRPr lang="en-IN" dirty="0"/>
          </a:p>
        </p:txBody>
      </p:sp>
      <p:pic>
        <p:nvPicPr>
          <p:cNvPr id="4" name="Content Placeholder 3"/>
          <p:cNvPicPr>
            <a:picLocks noGrp="1" noChangeAspect="1"/>
          </p:cNvPicPr>
          <p:nvPr>
            <p:ph idx="1"/>
          </p:nvPr>
        </p:nvPicPr>
        <p:blipFill>
          <a:blip r:embed="rId2"/>
          <a:stretch>
            <a:fillRect/>
          </a:stretch>
        </p:blipFill>
        <p:spPr>
          <a:xfrm>
            <a:off x="0" y="816076"/>
            <a:ext cx="12192000" cy="6115665"/>
          </a:xfrm>
          <a:prstGeom prst="rect">
            <a:avLst/>
          </a:prstGeom>
        </p:spPr>
      </p:pic>
    </p:spTree>
    <p:extLst>
      <p:ext uri="{BB962C8B-B14F-4D97-AF65-F5344CB8AC3E}">
        <p14:creationId xmlns:p14="http://schemas.microsoft.com/office/powerpoint/2010/main" val="1511347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571345"/>
          </a:xfrm>
        </p:spPr>
        <p:txBody>
          <a:bodyPr>
            <a:normAutofit fontScale="90000"/>
          </a:bodyPr>
          <a:lstStyle/>
          <a:p>
            <a:pPr algn="ctr"/>
            <a:r>
              <a:rPr lang="en-US" dirty="0" smtClean="0"/>
              <a:t>STEP BY STEP SIMULATION </a:t>
            </a:r>
            <a:endParaRPr lang="en-IN" dirty="0"/>
          </a:p>
        </p:txBody>
      </p:sp>
      <p:pic>
        <p:nvPicPr>
          <p:cNvPr id="4" name="Content Placeholder 3"/>
          <p:cNvPicPr>
            <a:picLocks noGrp="1" noChangeAspect="1"/>
          </p:cNvPicPr>
          <p:nvPr>
            <p:ph idx="1"/>
          </p:nvPr>
        </p:nvPicPr>
        <p:blipFill>
          <a:blip r:embed="rId2"/>
          <a:stretch>
            <a:fillRect/>
          </a:stretch>
        </p:blipFill>
        <p:spPr>
          <a:xfrm>
            <a:off x="0" y="654382"/>
            <a:ext cx="6390752" cy="2892686"/>
          </a:xfrm>
          <a:prstGeom prst="rect">
            <a:avLst/>
          </a:prstGeom>
        </p:spPr>
      </p:pic>
      <p:pic>
        <p:nvPicPr>
          <p:cNvPr id="5" name="Picture 4"/>
          <p:cNvPicPr>
            <a:picLocks noChangeAspect="1"/>
          </p:cNvPicPr>
          <p:nvPr/>
        </p:nvPicPr>
        <p:blipFill>
          <a:blip r:embed="rId3"/>
          <a:stretch>
            <a:fillRect/>
          </a:stretch>
        </p:blipFill>
        <p:spPr>
          <a:xfrm>
            <a:off x="6390752" y="654382"/>
            <a:ext cx="5801248" cy="2975723"/>
          </a:xfrm>
          <a:prstGeom prst="rect">
            <a:avLst/>
          </a:prstGeom>
        </p:spPr>
      </p:pic>
      <p:pic>
        <p:nvPicPr>
          <p:cNvPr id="6" name="Picture 5"/>
          <p:cNvPicPr>
            <a:picLocks noChangeAspect="1"/>
          </p:cNvPicPr>
          <p:nvPr/>
        </p:nvPicPr>
        <p:blipFill>
          <a:blip r:embed="rId4"/>
          <a:stretch>
            <a:fillRect/>
          </a:stretch>
        </p:blipFill>
        <p:spPr>
          <a:xfrm>
            <a:off x="0" y="3547068"/>
            <a:ext cx="12191999" cy="3310931"/>
          </a:xfrm>
          <a:prstGeom prst="rect">
            <a:avLst/>
          </a:prstGeom>
        </p:spPr>
      </p:pic>
    </p:spTree>
    <p:extLst>
      <p:ext uri="{BB962C8B-B14F-4D97-AF65-F5344CB8AC3E}">
        <p14:creationId xmlns:p14="http://schemas.microsoft.com/office/powerpoint/2010/main" val="3195613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Impact</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Virtual Memory Page Replacement Visualizer improves students' understanding of virtual memory and page replacement algorithms through interactive visual demonstrations. It helps learners understand how FIFO, LRU, and Optimal algorithms manage memory frames and handle page faults. By comparing the number of page faults generated by each algorithm, students can easily identify differences in their performance. The visual representation of page hits, page faults, and memory frame changes makes complex operating system concepts easier to learn and remember. This application also supports practical learning, encourages algorithmic thinking, and helps students develop a better understanding of efficient memory management in operating systems.</a:t>
            </a:r>
          </a:p>
        </p:txBody>
      </p:sp>
    </p:spTree>
    <p:extLst>
      <p:ext uri="{BB962C8B-B14F-4D97-AF65-F5344CB8AC3E}">
        <p14:creationId xmlns:p14="http://schemas.microsoft.com/office/powerpoint/2010/main" val="3042282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CONCLUSION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Virtual Memory Page Replacement Visualizer provides an interactive platform for understanding and comparing FIFO, LRU, and Optimal Page Replacement algorithms. It demonstrates memory frame changes, identifies page hits and page faults, and calculates the total page faults generated by each algorithm. The comparative analysis helps users understand how different page replacement strategies perform for the same page reference string. Developed using HTML, CSS, and JavaScript, the application simplifies operating system memory management concepts through clear visual representations. Overall, the project serves as an effective educational tool for students to learn and understand virtual memory and page replacement techniques.</a:t>
            </a:r>
          </a:p>
        </p:txBody>
      </p:sp>
    </p:spTree>
    <p:extLst>
      <p:ext uri="{BB962C8B-B14F-4D97-AF65-F5344CB8AC3E}">
        <p14:creationId xmlns:p14="http://schemas.microsoft.com/office/powerpoint/2010/main" val="540549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Future scope</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Virtual Memory Page Replacement Visualizer can be enhanced by introducing step-by-step playback controls, animated page replacement, and additional page replacement algorithms such as LFU (Least Frequently Used). Future improvements may include downloadable simulation reports, interactive quizzes, and detailed performance statistics. The application can also be extended to support larger page reference strings, customizable visualization themes, and mobile-friendly features. These enhancements can make the system more interactive, accessible, and useful for students learning advanced operating system concepts.</a:t>
            </a:r>
          </a:p>
        </p:txBody>
      </p:sp>
    </p:spTree>
    <p:extLst>
      <p:ext uri="{BB962C8B-B14F-4D97-AF65-F5344CB8AC3E}">
        <p14:creationId xmlns:p14="http://schemas.microsoft.com/office/powerpoint/2010/main" val="3236895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 y="0"/>
            <a:ext cx="12188761" cy="6859822"/>
          </a:xfrm>
          <a:prstGeom prst="rect">
            <a:avLst/>
          </a:prstGeom>
        </p:spPr>
      </p:pic>
    </p:spTree>
    <p:extLst>
      <p:ext uri="{BB962C8B-B14F-4D97-AF65-F5344CB8AC3E}">
        <p14:creationId xmlns:p14="http://schemas.microsoft.com/office/powerpoint/2010/main" val="22153025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616</TotalTime>
  <Words>1747</Words>
  <Application>Microsoft Office PowerPoint</Application>
  <PresentationFormat>Widescreen</PresentationFormat>
  <Paragraphs>57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Celestial</vt:lpstr>
      <vt:lpstr>VIRTUAL MEMORY PAGE REPLACEMENT Visualizer</vt:lpstr>
      <vt:lpstr>CONTENTS</vt:lpstr>
      <vt:lpstr>abstract</vt:lpstr>
      <vt:lpstr>Introduction</vt:lpstr>
      <vt:lpstr>Problem statement</vt:lpstr>
      <vt:lpstr>OBJECTIVES</vt:lpstr>
      <vt:lpstr>EXISTING SOLUTION</vt:lpstr>
      <vt:lpstr>PROPOSED SOLUTION </vt:lpstr>
      <vt:lpstr>Technologies used</vt:lpstr>
      <vt:lpstr>SYSTEM DESIGN</vt:lpstr>
      <vt:lpstr>FLOWCHART</vt:lpstr>
      <vt:lpstr>Implementation approach</vt:lpstr>
      <vt:lpstr>Web Application Screenshot</vt:lpstr>
      <vt:lpstr>INPUT SCREENSHOT</vt:lpstr>
      <vt:lpstr>OUTPUT SCREENSHOT</vt:lpstr>
      <vt:lpstr>STEP BY STEP SIMULATION </vt:lpstr>
      <vt:lpstr>Impact</vt:lpstr>
      <vt:lpstr>CONCLUSION</vt:lpstr>
      <vt:lpstr>Future scope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Sai Surendra</cp:lastModifiedBy>
  <cp:revision>62</cp:revision>
  <dcterms:created xsi:type="dcterms:W3CDTF">2026-06-10T13:51:49Z</dcterms:created>
  <dcterms:modified xsi:type="dcterms:W3CDTF">2026-10-16T14:38:02Z</dcterms:modified>
</cp:coreProperties>
</file>